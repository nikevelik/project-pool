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61" r:id="rId4"/>
    <p:sldId id="257" r:id="rId5"/>
    <p:sldId id="259" r:id="rId6"/>
    <p:sldId id="262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76"/>
    <p:restoredTop sz="94622"/>
  </p:normalViewPr>
  <p:slideViewPr>
    <p:cSldViewPr snapToGrid="0">
      <p:cViewPr varScale="1">
        <p:scale>
          <a:sx n="113" d="100"/>
          <a:sy n="113" d="100"/>
        </p:scale>
        <p:origin x="2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3/11/26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3/11/26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3/11/26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3/11/26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3/11/26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3/11/26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3/11/26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3/11/26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3/11/26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3/11/26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3/11/26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3/11/26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vestopedia.com/non-fungible-tokens-nft-5115211" TargetMode="External"/><Relationship Id="rId3" Type="http://schemas.openxmlformats.org/officeDocument/2006/relationships/hyperlink" Target="https://www.webopedia.com/definitions/blockchain-how-it-works-and-use-cases/" TargetMode="External"/><Relationship Id="rId7" Type="http://schemas.openxmlformats.org/officeDocument/2006/relationships/hyperlink" Target="https://www.webopedia.com/crypto/learn/whats-a-smart-contract/" TargetMode="External"/><Relationship Id="rId2" Type="http://schemas.openxmlformats.org/officeDocument/2006/relationships/hyperlink" Target="https://www.investopedia.com/terms/b/blockchain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vestopedia.com/terms/s/smart-contracts.asp" TargetMode="External"/><Relationship Id="rId5" Type="http://schemas.openxmlformats.org/officeDocument/2006/relationships/hyperlink" Target="https://www.britannica.com/money/how-smart-contracts-work" TargetMode="External"/><Relationship Id="rId10" Type="http://schemas.openxmlformats.org/officeDocument/2006/relationships/hyperlink" Target="https://arxiv.org/abs/2203.00398" TargetMode="External"/><Relationship Id="rId4" Type="http://schemas.openxmlformats.org/officeDocument/2006/relationships/hyperlink" Target="https://www.blockchain-council.org/guide/the-ultimate-guide-to-web3/" TargetMode="External"/><Relationship Id="rId9" Type="http://schemas.openxmlformats.org/officeDocument/2006/relationships/hyperlink" Target="https://docs.nexus.xyz/essentials/web3-fundamentals/overview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FC45E-07DB-A432-8226-A18D4C743D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bg-BG" sz="4400" b="1" dirty="0"/>
              <a:t>Дигитална собственост и онлайн икономика в </a:t>
            </a:r>
            <a:r>
              <a:rPr lang="en-US" sz="4400" b="1" dirty="0"/>
              <a:t>Web3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47375B-FC34-8BC9-5310-7108B1518E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/>
              <a:t>Реферат по дисциплина „</a:t>
            </a:r>
            <a:r>
              <a:rPr lang="en-US" dirty="0"/>
              <a:t>Web </a:t>
            </a:r>
            <a:r>
              <a:rPr lang="bg-BG" dirty="0"/>
              <a:t>Технологии“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592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5DFCD-ED6E-7652-9C0A-90286810F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72F7F-A58F-F776-9182-EFF10A8F1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Web3: </a:t>
            </a:r>
            <a:r>
              <a:rPr lang="bg-BG" dirty="0"/>
              <a:t>Блокчейн</a:t>
            </a:r>
            <a:endParaRPr lang="en-US" dirty="0"/>
          </a:p>
        </p:txBody>
      </p:sp>
      <p:pic>
        <p:nvPicPr>
          <p:cNvPr id="5" name="Content Placeholder 4" descr="A diagram of blockchain blocks&#10;&#10;AI-generated content may be incorrect.">
            <a:extLst>
              <a:ext uri="{FF2B5EF4-FFF2-40B4-BE49-F238E27FC236}">
                <a16:creationId xmlns:a16="http://schemas.microsoft.com/office/drawing/2014/main" id="{0CCC8BE1-F716-1DBD-B105-B058505089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1808" y="1442652"/>
            <a:ext cx="7170041" cy="460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091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49724-B4BD-C85F-B0CF-F2EE5C1F8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AFE9E-07B3-DAC1-D48A-464D92D78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Web3: </a:t>
            </a:r>
            <a:r>
              <a:rPr lang="bg-BG" sz="3800" dirty="0"/>
              <a:t>Механизми</a:t>
            </a:r>
            <a:endParaRPr lang="en-US" sz="3800" dirty="0"/>
          </a:p>
        </p:txBody>
      </p:sp>
      <p:pic>
        <p:nvPicPr>
          <p:cNvPr id="5" name="Content Placeholder 4" descr="A neon sign with text and icons&#10;&#10;AI-generated content may be incorrect.">
            <a:extLst>
              <a:ext uri="{FF2B5EF4-FFF2-40B4-BE49-F238E27FC236}">
                <a16:creationId xmlns:a16="http://schemas.microsoft.com/office/drawing/2014/main" id="{836C4811-26B5-E221-1630-F56462BD4B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1808" y="1767741"/>
            <a:ext cx="7310861" cy="411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09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95D6A-D908-055B-B656-B9457A11F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Web3: </a:t>
            </a:r>
            <a:r>
              <a:rPr lang="bg-BG" dirty="0"/>
              <a:t>Проблемът</a:t>
            </a:r>
            <a:r>
              <a:rPr lang="en-US" dirty="0"/>
              <a:t>, </a:t>
            </a:r>
            <a:r>
              <a:rPr lang="bg-BG" dirty="0"/>
              <a:t>който решава</a:t>
            </a:r>
            <a:endParaRPr lang="en-US" dirty="0"/>
          </a:p>
        </p:txBody>
      </p:sp>
      <p:pic>
        <p:nvPicPr>
          <p:cNvPr id="1028" name="Picture 4" descr="Web2 vs. Web3: The Ultimate Guide | Drift Learn">
            <a:extLst>
              <a:ext uri="{FF2B5EF4-FFF2-40B4-BE49-F238E27FC236}">
                <a16:creationId xmlns:a16="http://schemas.microsoft.com/office/drawing/2014/main" id="{7EDD1835-224A-5D5E-A1B6-2B104CA8C7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126" y="1885285"/>
            <a:ext cx="6906066" cy="399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325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EF56F-CF77-58B1-F758-8EE943EB2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FF564-AC49-E6FE-7E40-652D47D53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Web2 vs Web3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7C9DB90-66C5-AA2F-322C-81C79B2796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1808" y="1772354"/>
            <a:ext cx="6853661" cy="384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032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A7EDF-18F1-BD29-DE64-82EA297D2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2AE5C-0C00-B575-8D63-80CBAB2FC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Web3: </a:t>
            </a:r>
            <a:r>
              <a:rPr lang="bg-BG" b="1" dirty="0"/>
              <a:t>Как работят системите</a:t>
            </a:r>
            <a:endParaRPr lang="en-US" b="1" dirty="0"/>
          </a:p>
        </p:txBody>
      </p:sp>
      <p:pic>
        <p:nvPicPr>
          <p:cNvPr id="5" name="Content Placeholder 4" descr="A blue and purple background with a sign and a pen and paper&#10;&#10;AI-generated content may be incorrect.">
            <a:extLst>
              <a:ext uri="{FF2B5EF4-FFF2-40B4-BE49-F238E27FC236}">
                <a16:creationId xmlns:a16="http://schemas.microsoft.com/office/drawing/2014/main" id="{B871F8DC-98AB-5405-656A-FBD188354E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363" y="2287408"/>
            <a:ext cx="7796212" cy="352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030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58E33-68F6-7878-AD41-3BF80024F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1DC53-CFC2-4418-CCAC-BEB15402E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4BEFB-7A1B-8AB6-AF5B-A16AC0797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spcBef>
                <a:spcPts val="0"/>
              </a:spcBef>
            </a:pPr>
            <a:r>
              <a:rPr lang="en-US" b="1" dirty="0"/>
              <a:t>Blockchain Technology &amp; Fundamentals</a:t>
            </a:r>
          </a:p>
          <a:p>
            <a:pPr lvl="1">
              <a:spcBef>
                <a:spcPts val="0"/>
              </a:spcBef>
            </a:pPr>
            <a:r>
              <a:rPr lang="en-US" dirty="0">
                <a:hlinkClick r:id="rId2"/>
              </a:rPr>
              <a:t>Investopedia: Blockchain</a:t>
            </a:r>
            <a:endParaRPr lang="en-US" dirty="0"/>
          </a:p>
          <a:p>
            <a:pPr lvl="1">
              <a:spcBef>
                <a:spcPts val="0"/>
              </a:spcBef>
            </a:pPr>
            <a:r>
              <a:rPr lang="en-US" dirty="0">
                <a:hlinkClick r:id="rId3"/>
              </a:rPr>
              <a:t>Webopedia: Blockchain - How It Works and Use Cases</a:t>
            </a:r>
            <a:endParaRPr lang="en-US" dirty="0"/>
          </a:p>
          <a:p>
            <a:pPr lvl="1">
              <a:spcBef>
                <a:spcPts val="0"/>
              </a:spcBef>
            </a:pPr>
            <a:r>
              <a:rPr lang="en-US" dirty="0">
                <a:hlinkClick r:id="rId4"/>
              </a:rPr>
              <a:t>Blockchain Council: The Ultimate Guide to Web3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b="1" dirty="0"/>
              <a:t>Smart Contracts</a:t>
            </a:r>
          </a:p>
          <a:p>
            <a:pPr lvl="1">
              <a:spcBef>
                <a:spcPts val="0"/>
              </a:spcBef>
            </a:pPr>
            <a:r>
              <a:rPr lang="en-US" dirty="0">
                <a:hlinkClick r:id="rId5"/>
              </a:rPr>
              <a:t>Britannica: How Smart Contracts Work</a:t>
            </a:r>
            <a:endParaRPr lang="en-US" dirty="0"/>
          </a:p>
          <a:p>
            <a:pPr lvl="1">
              <a:spcBef>
                <a:spcPts val="0"/>
              </a:spcBef>
            </a:pPr>
            <a:r>
              <a:rPr lang="en-US" dirty="0">
                <a:hlinkClick r:id="rId6"/>
              </a:rPr>
              <a:t>Investopedia: Smart Contracts</a:t>
            </a:r>
            <a:endParaRPr lang="en-US" dirty="0"/>
          </a:p>
          <a:p>
            <a:pPr lvl="1">
              <a:spcBef>
                <a:spcPts val="0"/>
              </a:spcBef>
            </a:pPr>
            <a:r>
              <a:rPr lang="en-US" dirty="0">
                <a:hlinkClick r:id="rId7"/>
              </a:rPr>
              <a:t>Webopedia: What's a Smart Contract?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b="1" dirty="0"/>
              <a:t>NFTs &amp; Token Ownership</a:t>
            </a:r>
          </a:p>
          <a:p>
            <a:pPr lvl="1">
              <a:spcBef>
                <a:spcPts val="0"/>
              </a:spcBef>
            </a:pPr>
            <a:r>
              <a:rPr lang="en-US" dirty="0">
                <a:hlinkClick r:id="rId8"/>
              </a:rPr>
              <a:t>Investopedia: Non-Fungible Tokens (NFT)</a:t>
            </a:r>
            <a:r>
              <a:rPr lang="bg-BG" dirty="0"/>
              <a:t>	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b="1" dirty="0"/>
              <a:t>Web3 Fundamentals Overview</a:t>
            </a:r>
          </a:p>
          <a:p>
            <a:pPr lvl="1">
              <a:spcBef>
                <a:spcPts val="0"/>
              </a:spcBef>
            </a:pPr>
            <a:r>
              <a:rPr lang="en-US" dirty="0">
                <a:hlinkClick r:id="rId9"/>
              </a:rPr>
              <a:t>Nexus Docs: Web3 Fundamentals Overview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b="1" dirty="0"/>
              <a:t>Digital Ownership</a:t>
            </a:r>
          </a:p>
          <a:p>
            <a:pPr lvl="1">
              <a:spcBef>
                <a:spcPts val="0"/>
              </a:spcBef>
            </a:pPr>
            <a:r>
              <a:rPr lang="en-US" dirty="0">
                <a:hlinkClick r:id="rId10"/>
              </a:rPr>
              <a:t>arXiv: Digital Ownership</a:t>
            </a:r>
            <a:endParaRPr lang="en-US" dirty="0"/>
          </a:p>
          <a:p>
            <a:pPr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970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7CF3B-71CD-35E6-927B-BCCBF5ABE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384" y="2890385"/>
            <a:ext cx="2181231" cy="1077229"/>
          </a:xfrm>
        </p:spPr>
        <p:txBody>
          <a:bodyPr/>
          <a:lstStyle/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727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D1C2B-068B-E4CD-F7A2-BF6FE45AA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1268" y="2890385"/>
            <a:ext cx="5549464" cy="1077229"/>
          </a:xfrm>
        </p:spPr>
        <p:txBody>
          <a:bodyPr/>
          <a:lstStyle/>
          <a:p>
            <a:r>
              <a:rPr lang="bg-BG" dirty="0"/>
              <a:t>Благодаря за вниманието!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4065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500</TotalTime>
  <Words>113</Words>
  <Application>Microsoft Macintosh PowerPoint</Application>
  <PresentationFormat>Widescreen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MS Shell Dlg 2</vt:lpstr>
      <vt:lpstr>Wingdings</vt:lpstr>
      <vt:lpstr>Wingdings 3</vt:lpstr>
      <vt:lpstr>Madison</vt:lpstr>
      <vt:lpstr>Дигитална собственост и онлайн икономика в Web3 </vt:lpstr>
      <vt:lpstr>Web3: Блокчейн</vt:lpstr>
      <vt:lpstr>Web3: Механизми</vt:lpstr>
      <vt:lpstr>Web3: Проблемът, който решава</vt:lpstr>
      <vt:lpstr>Web2 vs Web3</vt:lpstr>
      <vt:lpstr>Web3: Как работят системите</vt:lpstr>
      <vt:lpstr>Refs</vt:lpstr>
      <vt:lpstr>Въпроси?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Georgiev, Nikola</dc:creator>
  <cp:lastModifiedBy>Georgiev, Nikola</cp:lastModifiedBy>
  <cp:revision>4</cp:revision>
  <dcterms:created xsi:type="dcterms:W3CDTF">2026-03-05T17:21:25Z</dcterms:created>
  <dcterms:modified xsi:type="dcterms:W3CDTF">2026-03-11T08:43:43Z</dcterms:modified>
</cp:coreProperties>
</file>